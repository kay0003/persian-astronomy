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8C77D"/>
                </a:solidFill>
                <a:latin typeface="Georgia"/>
              </a:rPr>
              <a:t>Persian Astronomy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DCDCDC"/>
                </a:solidFill>
                <a:latin typeface="Calibri"/>
              </a:rPr>
              <a:t>Stars, Science &amp; Civilization
— A Journey Through the Sky of Ancient &amp; Medieval Persia 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Why Persia?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One of the oldest continuous civilizations (3000+ years)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Crossroads of trade, religion, and science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Astronomy tied to calendar, agriculture, and religion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Zoroastrianism &amp; the Sky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Ancient Persians saw stars as sacred beings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4 royal stars guarded the 4 directions — Tishtrya linked to Sirius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Fire temples aligned with celestial events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Sacred Symbol: Faravahar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79676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DCDCDC"/>
                </a:solidFill>
                <a:latin typeface="Calibri"/>
              </a:rPr>
              <a:t>Representing the spirit and Zoroastrian cosmic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The Persian Calendar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Solar Hijri calendar — one of the most accurate solar calendars ever devised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Nowruz (New Year) precisely timed to the spring equinox — still used today!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Omar Khayyam (1048–1131)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Poet AND mathematician-astronomer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Reformed the Persian (Jalali) calendar — more accurate than the Gregorian calendar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Worked at the Isfahan observatory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Nasir al-Din al-Tusi (1201–1274)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Founded the great Maragheh Observatory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Invented the "Tusi Couple" — later echoed in Copernicus' work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Compiled major star catalogs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The Tusi Couple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79676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DCDCDC"/>
                </a:solidFill>
                <a:latin typeface="Calibri"/>
              </a:rPr>
              <a:t>A geometric device explaining planetary motion
— an idea later echoed by Copernicus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The Maragheh Observatory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Built in 1259 CE, scholars from Persia, China &amp; beyond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Library of 400,000+ books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Inspired later observatories across Asia and possibly Europe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Al-Biruni (973–1048)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Calculated Earth's radius with striking accuracy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Discussed Earth possibly orbiting the Sun — centuries before Copernicus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>
                <a:solidFill>
                  <a:srgbClr val="DCDCDC"/>
                </a:solidFill>
                <a:latin typeface="Calibri"/>
              </a:rPr>
              <a:t>• Wrote on latitude, longitude, eclipses, star positions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The Astrolabe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79676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CDCDC"/>
                </a:solidFill>
                <a:latin typeface="Calibri"/>
              </a:rPr>
              <a:t>A beautiful brass instrument refined by Persian scientists
— used for navigation, timekeeping, and mapping stars.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Sky-Aligned Architecture: Persepolis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79676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DCDCDC"/>
                </a:solidFill>
                <a:latin typeface="Calibri"/>
              </a:rPr>
              <a:t>Columns and gates aligned with solstice sunrise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Chogha Zanbil Ziggurat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79676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CDCDC"/>
                </a:solidFill>
                <a:latin typeface="Calibri"/>
              </a:rPr>
              <a:t>One of the few surviving ziggurats outside Mesopotamia
— UNESCO World Heritage Site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Legacy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79676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CDCDC"/>
                </a:solidFill>
                <a:latin typeface="Calibri"/>
              </a:rPr>
              <a:t>Persian astronomy terms passed into Arabic → Latin → English.
Iran continues astronomy research today.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5-Point Star 1"/>
          <p:cNvSpPr/>
          <p:nvPr/>
        </p:nvSpPr>
        <p:spPr>
          <a:xfrm>
            <a:off x="5486400" y="274320"/>
            <a:ext cx="1188720" cy="914400"/>
          </a:xfrm>
          <a:prstGeom prst="star5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8C77D"/>
                </a:solidFill>
                <a:latin typeface="Georgia"/>
              </a:rPr>
              <a:t>Let's Write in Persian! ✍️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DCDCDC"/>
                </a:solidFill>
                <a:latin typeface="Calibri"/>
              </a:rPr>
              <a:t>We'll learn 4 simple words, letter by letter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Letters We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77724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2926080"/>
              </a:tblGrid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1800" b="1">
                          <a:solidFill>
                            <a:srgbClr val="E8C77D"/>
                          </a:solidFill>
                          <a:latin typeface="Calibri"/>
                        </a:rPr>
                        <a:t>Letter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1">
                          <a:solidFill>
                            <a:srgbClr val="E8C77D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800" b="1">
                          <a:solidFill>
                            <a:srgbClr val="E8C77D"/>
                          </a:solidFill>
                          <a:latin typeface="Calibri"/>
                        </a:rPr>
                        <a:t>Sound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س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seen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"s"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ت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te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"t"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ا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alef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"a"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ر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re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"r"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ه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he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"e / h"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آ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alef madde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"â"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م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mim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"m"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ن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noon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"n"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خ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khe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"kh"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و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vav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"o / v"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ش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shin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"sh"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</a:tr>
              <a:tr h="378822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ی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ye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"i / y"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  <a:tr h="378834">
                <a:tc>
                  <a:txBody>
                    <a:bodyPr wrap="none"/>
                    <a:lstStyle/>
                    <a:p>
                      <a:pPr algn="ctr"/>
                      <a:r>
                        <a:rPr sz="3400" b="1">
                          <a:solidFill>
                            <a:srgbClr val="E8C77D"/>
                          </a:solidFill>
                          <a:latin typeface="Arial"/>
                        </a:rPr>
                        <a:t>د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dal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"d"</a:t>
                      </a:r>
                    </a:p>
                  </a:txBody>
                  <a:tcPr>
                    <a:solidFill>
                      <a:srgbClr val="0F14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8C77D"/>
                </a:solidFill>
                <a:latin typeface="Calibri"/>
              </a:rPr>
              <a:t>Remember: Persian is written right-to-left!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C77D"/>
                </a:solidFill>
                <a:latin typeface="Arial"/>
              </a:rPr>
              <a:t>ستاره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DCDCDC"/>
                </a:solidFill>
                <a:latin typeface="Calibri"/>
              </a:rPr>
              <a:t>setâreh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4023360"/>
          <a:ext cx="4846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48640"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E8C77D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E8C77D"/>
                          </a:solidFill>
                          <a:latin typeface="Calibri"/>
                        </a:rPr>
                        <a:t>Polish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star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gwiazda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C77D"/>
                </a:solidFill>
                <a:latin typeface="Arial"/>
              </a:rPr>
              <a:t>آسمان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DCDCDC"/>
                </a:solidFill>
                <a:latin typeface="Calibri"/>
              </a:rPr>
              <a:t>âsemân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4023360"/>
          <a:ext cx="4846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48640"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E8C77D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E8C77D"/>
                          </a:solidFill>
                          <a:latin typeface="Calibri"/>
                        </a:rPr>
                        <a:t>Polish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sky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niebo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C77D"/>
                </a:solidFill>
                <a:latin typeface="Arial"/>
              </a:rPr>
              <a:t>ماه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DCDCDC"/>
                </a:solidFill>
                <a:latin typeface="Calibri"/>
              </a:rPr>
              <a:t>mâh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4023360"/>
          <a:ext cx="4846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48640"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E8C77D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E8C77D"/>
                          </a:solidFill>
                          <a:latin typeface="Calibri"/>
                        </a:rPr>
                        <a:t>Polish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moon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księżyc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C77D"/>
                </a:solidFill>
                <a:latin typeface="Arial"/>
              </a:rPr>
              <a:t>خورشید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DCDCDC"/>
                </a:solidFill>
                <a:latin typeface="Calibri"/>
              </a:rPr>
              <a:t>khorshid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4023360"/>
          <a:ext cx="4846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48640"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E8C77D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E8C77D"/>
                          </a:solidFill>
                          <a:latin typeface="Calibri"/>
                        </a:rPr>
                        <a:t>Polish</a:t>
                      </a:r>
                    </a:p>
                  </a:txBody>
                  <a:tcPr>
                    <a:solidFill>
                      <a:srgbClr val="32325A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sun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>
                          <a:solidFill>
                            <a:srgbClr val="DCDCDC"/>
                          </a:solidFill>
                          <a:latin typeface="Calibri"/>
                        </a:rPr>
                        <a:t>słońce</a:t>
                      </a:r>
                    </a:p>
                  </a:txBody>
                  <a:tcPr>
                    <a:solidFill>
                      <a:srgbClr val="1419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C77D"/>
                </a:solidFill>
                <a:latin typeface="Georgia"/>
              </a:rPr>
              <a:t>Your Turn! ✏️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8C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CDCDC"/>
                </a:solidFill>
                <a:latin typeface="Calibri"/>
              </a:rPr>
              <a:t>Trace and practice writing all 4 words, right to left.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  <a:ln w="19050">
            <a:solidFill>
              <a:srgbClr val="E8C77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49B5F"/>
                </a:solidFill>
                <a:latin typeface="Arial"/>
              </a:rPr>
              <a:t>ستاره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49B5F"/>
                </a:solidFill>
                <a:latin typeface="Arial"/>
              </a:rPr>
              <a:t>آسمان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49B5F"/>
                </a:solidFill>
                <a:latin typeface="Arial"/>
              </a:rPr>
              <a:t>ماه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49B5F"/>
                </a:solidFill>
                <a:latin typeface="Arial"/>
              </a:rPr>
              <a:t>خورشید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C77D"/>
                </a:solidFill>
                <a:latin typeface="Arial"/>
              </a:rPr>
              <a:t>متشکرم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DCDCDC"/>
                </a:solidFill>
                <a:latin typeface="Calibri"/>
              </a:rPr>
              <a:t>motshakeram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CDCDC"/>
                </a:solidFill>
                <a:latin typeface="Calibri"/>
              </a:rPr>
              <a:t>Thank you  •  dziękuję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